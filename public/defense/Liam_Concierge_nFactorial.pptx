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960fbd37c4c39" /><Relationship Type="http://schemas.openxmlformats.org/officeDocument/2006/relationships/extended-properties" Target="/docProps/app.xml" Id="R3d1e5e7ba31a4ccd" /><Relationship Type="http://schemas.openxmlformats.org/officeDocument/2006/relationships/officeDocument" Target="/ppt/presentation.xml" Id="R8ade4029be0045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406092d3c4cda"/>
  </p:sldMasterIdLst>
  <p:notesMasterIdLst>
    <p:notesMasterId xmlns:r="http://schemas.openxmlformats.org/officeDocument/2006/relationships" r:id="R8c8979dea8b246e4"/>
  </p:notesMasterIdLst>
  <p:sldIdLst>
    <p:sldId xmlns:r="http://schemas.openxmlformats.org/officeDocument/2006/relationships" id="256" r:id="Rea3a480c98294080"/>
    <p:sldId xmlns:r="http://schemas.openxmlformats.org/officeDocument/2006/relationships" id="257" r:id="R851d995be5c34ec8"/>
    <p:sldId xmlns:r="http://schemas.openxmlformats.org/officeDocument/2006/relationships" id="258" r:id="Re2fd06cffd544971"/>
    <p:sldId xmlns:r="http://schemas.openxmlformats.org/officeDocument/2006/relationships" id="259" r:id="R9d0bb3d397534d99"/>
    <p:sldId xmlns:r="http://schemas.openxmlformats.org/officeDocument/2006/relationships" id="260" r:id="R39e29007fa314b72"/>
    <p:sldId xmlns:r="http://schemas.openxmlformats.org/officeDocument/2006/relationships" id="261" r:id="R5578ced1ecca418c"/>
    <p:sldId xmlns:r="http://schemas.openxmlformats.org/officeDocument/2006/relationships" id="262" r:id="R2554b1703b4c4e30"/>
    <p:sldId xmlns:r="http://schemas.openxmlformats.org/officeDocument/2006/relationships" id="263" r:id="Re32db2bd50344a30"/>
    <p:sldId xmlns:r="http://schemas.openxmlformats.org/officeDocument/2006/relationships" id="264" r:id="Rb5b7486e9c174015"/>
    <p:sldId xmlns:r="http://schemas.openxmlformats.org/officeDocument/2006/relationships" id="265" r:id="R0f1d3f4173db435d"/>
    <p:sldId xmlns:r="http://schemas.openxmlformats.org/officeDocument/2006/relationships" id="266" r:id="Rb5c2ec264d874f7f"/>
    <p:sldId xmlns:r="http://schemas.openxmlformats.org/officeDocument/2006/relationships" id="267" r:id="Rd51529f097f840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d8682840146da" /><Relationship Type="http://schemas.openxmlformats.org/officeDocument/2006/relationships/slideMaster" Target="/ppt/slideMasters/slideMaster1.xml" Id="R736406092d3c4cda" /><Relationship Type="http://schemas.openxmlformats.org/officeDocument/2006/relationships/notesMaster" Target="/ppt/notesMasters/notesMaster1.xml" Id="R8c8979dea8b246e4" /><Relationship Type="http://schemas.openxmlformats.org/officeDocument/2006/relationships/presProps" Target="/ppt/presProps.xml" Id="R911d1f10a29e4c36" /><Relationship Type="http://schemas.openxmlformats.org/officeDocument/2006/relationships/tableStyles" Target="/ppt/tableStyles.xml" Id="R4401017b0ba94cfc" /><Relationship Type="http://schemas.openxmlformats.org/officeDocument/2006/relationships/slide" Target="/ppt/slides/slide1.xml" Id="Rea3a480c98294080" /><Relationship Type="http://schemas.openxmlformats.org/officeDocument/2006/relationships/slide" Target="/ppt/slides/slide2.xml" Id="R851d995be5c34ec8" /><Relationship Type="http://schemas.openxmlformats.org/officeDocument/2006/relationships/slide" Target="/ppt/slides/slide3.xml" Id="Re2fd06cffd544971" /><Relationship Type="http://schemas.openxmlformats.org/officeDocument/2006/relationships/slide" Target="/ppt/slides/slide4.xml" Id="R9d0bb3d397534d99" /><Relationship Type="http://schemas.openxmlformats.org/officeDocument/2006/relationships/slide" Target="/ppt/slides/slide5.xml" Id="R39e29007fa314b72" /><Relationship Type="http://schemas.openxmlformats.org/officeDocument/2006/relationships/slide" Target="/ppt/slides/slide6.xml" Id="R5578ced1ecca418c" /><Relationship Type="http://schemas.openxmlformats.org/officeDocument/2006/relationships/slide" Target="/ppt/slides/slide7.xml" Id="R2554b1703b4c4e30" /><Relationship Type="http://schemas.openxmlformats.org/officeDocument/2006/relationships/slide" Target="/ppt/slides/slide8.xml" Id="Re32db2bd50344a30" /><Relationship Type="http://schemas.openxmlformats.org/officeDocument/2006/relationships/slide" Target="/ppt/slides/slide9.xml" Id="Rb5b7486e9c174015" /><Relationship Type="http://schemas.openxmlformats.org/officeDocument/2006/relationships/slide" Target="/ppt/slides/slide10.xml" Id="R0f1d3f4173db435d" /><Relationship Type="http://schemas.openxmlformats.org/officeDocument/2006/relationships/slide" Target="/ppt/slides/slide11.xml" Id="Rb5c2ec264d874f7f" /><Relationship Type="http://schemas.openxmlformats.org/officeDocument/2006/relationships/slide" Target="/ppt/slides/slide12.xml" Id="Rd51529f097f8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0adab87cf4e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120a9a2374986" /><Relationship Type="http://schemas.openxmlformats.org/officeDocument/2006/relationships/notesMaster" Target="/ppt/notesMasters/notesMaster1.xml" Id="R87c9c80fd56a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aa35a3d0cb4ebb" /><Relationship Type="http://schemas.openxmlformats.org/officeDocument/2006/relationships/notesMaster" Target="/ppt/notesMasters/notesMaster1.xml" Id="R613181dce0f24f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53f536271a442a" /><Relationship Type="http://schemas.openxmlformats.org/officeDocument/2006/relationships/notesMaster" Target="/ppt/notesMasters/notesMaster1.xml" Id="R6fb74033c50a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6791960d44458a" /><Relationship Type="http://schemas.openxmlformats.org/officeDocument/2006/relationships/notesMaster" Target="/ppt/notesMasters/notesMaster1.xml" Id="R710eb582435546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5e37b7f9df4fd4" /><Relationship Type="http://schemas.openxmlformats.org/officeDocument/2006/relationships/notesMaster" Target="/ppt/notesMasters/notesMaster1.xml" Id="R59e1bf0ecc8f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fb4be9f2b746d9" /><Relationship Type="http://schemas.openxmlformats.org/officeDocument/2006/relationships/notesMaster" Target="/ppt/notesMasters/notesMaster1.xml" Id="Rf366c11921494d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55ce2bb19f4573" /><Relationship Type="http://schemas.openxmlformats.org/officeDocument/2006/relationships/notesMaster" Target="/ppt/notesMasters/notesMaster1.xml" Id="Raf34086530134c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e25ab958ff46b4" /><Relationship Type="http://schemas.openxmlformats.org/officeDocument/2006/relationships/notesMaster" Target="/ppt/notesMasters/notesMaster1.xml" Id="R68c74942218542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d0181d414c4aae" /><Relationship Type="http://schemas.openxmlformats.org/officeDocument/2006/relationships/notesMaster" Target="/ppt/notesMasters/notesMaster1.xml" Id="R39cb888c3cf54e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7898bd198c40ec" /><Relationship Type="http://schemas.openxmlformats.org/officeDocument/2006/relationships/notesMaster" Target="/ppt/notesMasters/notesMaster1.xml" Id="R52df38a7851c41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d8a3ec0ff04119" /><Relationship Type="http://schemas.openxmlformats.org/officeDocument/2006/relationships/notesMaster" Target="/ppt/notesMasters/notesMaster1.xml" Id="R4a9d982c695942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b4012197eb4674" /><Relationship Type="http://schemas.openxmlformats.org/officeDocument/2006/relationships/notesMaster" Target="/ppt/notesMasters/notesMaster1.xml" Id="Re98f53eff3aa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Introduce yourself and the product. This is a student demonstration, not an approved property launch. All examples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0:30–1:05. Source: knowledge/liam-demo-policy.pdf, pages 1–5; src/lib/service.ts. Three daily rounds remain a proposed operational extension. Do not claim actual customer adoption, savings or property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1:05–1:50. Demonstrate /concierge with a fictional resident account. Request delivery, reload, then confirm. Sources: tests/assistant.test.ts and scripts/browser-check.mjs. Screenshot uses only fictional test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1:50–2:30. Sources: src/lib/assistant/graph.ts, service.ts, tools.ts and tests/assistant.test.ts. Guided buttons use the same graph without a model call. AI selects a bounded intent; it does not generate arbitrary SQL or call any tool it wishes.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2:30–3:10. Sources: scripts/mcp-server.ts, src/lib/assistant/mcp.ts, operations-tools.ts and MCP_TOOLS.md. stdio transport is real and local. Four tools are discoverable by residents; eight by the operator. A remote ChatGPT/Claude connector is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3:10–3:50. Demonstrate the question “Do I need Gmail to use delivery?” Source: src/lib/assistant/rag.ts and knowledge/liam-demo-policy.pdf. text-embedding-3-small, cosine similarity, threshold 0.25. Citations verify source membership; they do not mathematically prove every generated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3:50–4:35. Demonstrate /label-intake using this fictional fixture. Source: src/lib/assistant/vision.ts and skills.ts. No image or raw label fields are exported to Langfuse. The image goes to OpenAI only after explicit operator consent. Barcode decoding uses ZXing on the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4:35–5:05. Sources: GMAIL_SETUP.md, src/lib/mail/, tests/mail.test.ts. Gmail OAuth and sync have mocked integration tests. A real Google OAuth client and a resident’s authorization are still required; no live mailbox connection is claimed. The requested Gmail read-only scope covers the mailbox; the sync query filters candidate messages, not the permission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5:05–5:50. Source: evals/results/golden-latest.json, run at 2026-09-25 UTC. Dataset hash recorded in the file. Six fields per label. Model gpt-4.1-mini-2025-04-14. Policy faithfulness and relevance were also 10/10 under an LLM judge; this is a small sample, not independent human validation. No failures were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5:50–6:40. Sources: evals/results/development-latest.json and ab-latest.json, EVALS.md. Development uses 12 distinct intent examples; RAG A/B reuses the ten golden policy questions, so it is not an independent holdout. Temperature 0.3, top_p 0.8 and limits 256/1024 were also tested separately. Single small runs; no statistical significance claim. Baseline generation cost estimate: $0.001238 for twelve intent calls, excluding infrastructure; pricing source https://developers.openai.com/api/docs/pricing, 2026-09-25.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6:40–7:20. Show the live Langfuse dashboard in the founder’s account, or the sanitized trace manifest. Sources: evals/results/trace-audit.json, src/lib/assistant/tracing.ts, tests/, scripts/browser-check.mjs. Trace access requires a separate account invitation. Credentials and private project links are excluded from the public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7:20–8:00, leaving up to two minutes for questions. Property approval and insurance review remain separate launch requirements. No insurance coverage, physical shelf organization, unattended delivery or 24/7 staffing is promised. Sources: README.md and IMPLEMENTATION_STATUS.md.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89c30fb3a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92badbe05d4353" /><Relationship Type="http://schemas.openxmlformats.org/officeDocument/2006/relationships/slideLayout" Target="/ppt/slideLayouts/slideLayout1.xml" Id="R35e8d93fd524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8d93fd524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38f1236414821" /><Relationship Type="http://schemas.openxmlformats.org/officeDocument/2006/relationships/notesSlide" Target="/ppt/notesSlides/notesSlide1.xml" Id="R3324fc971a1b44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7a17d86a84230" /><Relationship Type="http://schemas.openxmlformats.org/officeDocument/2006/relationships/notesSlide" Target="/ppt/notesSlides/notesSlide2.xml" Id="Re590a60783c541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057a5b63e4768" /><Relationship Type="http://schemas.openxmlformats.org/officeDocument/2006/relationships/image" Target="/ppt/media/image.png" Id="Rf211df530bbd4140" /><Relationship Type="http://schemas.openxmlformats.org/officeDocument/2006/relationships/notesSlide" Target="/ppt/notesSlides/notesSlide3.xml" Id="R9e6df41bcc0f46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dd642c444491c" /><Relationship Type="http://schemas.openxmlformats.org/officeDocument/2006/relationships/notesSlide" Target="/ppt/notesSlides/notesSlide4.xml" Id="Rdb7af406d02843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86233cbdc4794" /><Relationship Type="http://schemas.openxmlformats.org/officeDocument/2006/relationships/notesSlide" Target="/ppt/notesSlides/notesSlide5.xml" Id="R50591599dd9f44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3846403a04015" /><Relationship Type="http://schemas.openxmlformats.org/officeDocument/2006/relationships/notesSlide" Target="/ppt/notesSlides/notesSlide6.xml" Id="Reb9a774d8dbe43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909c9c19b4139" /><Relationship Type="http://schemas.openxmlformats.org/officeDocument/2006/relationships/image" Target="/ppt/media/image2.png" Id="R0253e004410d44d0" /><Relationship Type="http://schemas.openxmlformats.org/officeDocument/2006/relationships/notesSlide" Target="/ppt/notesSlides/notesSlide7.xml" Id="R26ac717465de45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d90e6002041cf" /><Relationship Type="http://schemas.openxmlformats.org/officeDocument/2006/relationships/notesSlide" Target="/ppt/notesSlides/notesSlide8.xml" Id="R8fb377a0588644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ac34ba3243ad" /><Relationship Type="http://schemas.openxmlformats.org/officeDocument/2006/relationships/notesSlide" Target="/ppt/notesSlides/notesSlide9.xml" Id="R823896ab044b48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8d591e2c04327" /><Relationship Type="http://schemas.openxmlformats.org/officeDocument/2006/relationships/notesSlide" Target="/ppt/notesSlides/notesSlide10.xml" Id="R80e3d91ce2fd4f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8137c27654246" /><Relationship Type="http://schemas.openxmlformats.org/officeDocument/2006/relationships/notesSlide" Target="/ppt/notesSlides/notesSlide11.xml" Id="Rffea3835f41446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d61f5d0f44c20" /><Relationship Type="http://schemas.openxmlformats.org/officeDocument/2006/relationships/notesSlide" Target="/ppt/notesSlides/notesSlide12.xml" Id="Ra17ca78e93eb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4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20A9B-EDE2-4866-A4A6-E2ABEF0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Liam Concierge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D8577-5BE1-4AB9-8A2E-DDE0DD94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Package assistance for residents</a:t>
            </a:r>
          </a:p>
          <a:p xmlns:a="http://schemas.openxmlformats.org/drawingml/2006/main">
            <a:pPr>
              <a:defRPr sz="24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An AI application with verified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669C3-381D-423B-9C3E-700E5DD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Arzhan Moldabayev · nFactorial Final Project</a:t>
            </a:r>
          </a:p>
        </p:txBody>
      </p:sp>
    </p:spTree>
    <p:extLst>
      <p:ext uri="{BB962C8B-B14F-4D97-AF65-F5344CB8AC3E}">
        <p14:creationId xmlns:p14="http://schemas.microsoft.com/office/powerpoint/2010/main" val="967731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B130E-2A9A-4DBF-8D60-98D2BD79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package-room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5256F-A5B8-4B91-AA12-5A9CABBD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7823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Residents need to know what has arrived and when they can receive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An operator needs a reliable recipient, location and custody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Liam Concierge connects those tasks with scheduled delivery. The prototype supports one daily window and direct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FAF43-89B7-4D8D-9BCA-AAB1BFA4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625373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A3670-B752-4DC7-A46A-B1654708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A resident’s delivery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CED45-85AE-4C6A-893C-5906D28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953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resident sees their own packages and available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A delivery request waits for explicit confirmation. Reloading the page preserves that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server checks availability again before booking.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1df530bbd4140"/>
          <a:stretch xmlns:a="http://schemas.openxmlformats.org/drawingml/2006/main"/>
        </p:blipFill>
        <p:spPr>
          <a:xfrm xmlns:a="http://schemas.openxmlformats.org/drawingml/2006/main">
            <a:off x="6178431" y="1438275"/>
            <a:ext cx="5245338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60ECB-143C-4F96-8384-32B3458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230272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6E54B-D460-475C-B0D5-845CAC34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LangGraph 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DD6BB-D0D5-443C-AAF3-1FDDDF2B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7823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Classify the request, then branch to package tools, service rules or an access refusal.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Booking reads packages and windows, persists an interrupt in PostgreSQL, and resumes after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final MCP tool consumes a short-lived approval once. SQL locks enforce capacity.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3704E-176A-478F-9D19-F40600F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471205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516CF-EEFE-4242-B706-9FB00CB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Eight tools through an actual MCP server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108966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6372225"/>
              </a:tblGrid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Tool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Access / purpose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get_parcels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Resident’s physical and expected records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get_available_windows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Available booking windows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request_delivery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Explicit approval; transactional booking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get_package_details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Own package; operator can inspect all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get_room_capacity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Operator; timestamped room inspection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get_aging_packages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Operator; age since physical intake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get_package_exceptions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Operator; unresolved intake issues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preview_delivery_round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Operator; workload and recorded weights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EC9C3-B175-4B06-9117-204DC35D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0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MCP exposes typed, discoverable tools to the graph. Web APIs still handle browser requests and Gmail OAuth.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2F03C-B40C-4BDF-A44D-8D48839F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2011068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3E5F1-F81D-4504-97FC-B64214F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PDF retrieval with page citations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07268-8E0B-4219-A9CE-85B36BEB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7823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An eight-page demonstration policy provides the knowledge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PDF text becomes page-based chunks and 256-dimensional embeddings in pgvector. Retrieval selects up to four relevant chunks.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answer cites allowed source IDs and PDF pages. Unsupported questions produce an explicit absence-of-information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B8B56-1D35-4842-9309-F054F20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24419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01EF-F45E-4087-B6CB-5F932A7A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Label reading with a runtime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2F41E-E326-452D-8055-FF2C7C8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953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A phone image provides the visible name, unit, tracking reference and printed weight.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app loads skills/liam-parcel-exceptions/SKILL.md into the vision request. Missing values stay empty.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A verified local roster proposes a recipient. The operator reviews the draft before physical intake.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3e004410d44d0"/>
          <a:stretch xmlns:a="http://schemas.openxmlformats.org/drawingml/2006/main"/>
        </p:blipFill>
        <p:spPr>
          <a:xfrm xmlns:a="http://schemas.openxmlformats.org/drawingml/2006/main">
            <a:off x="6115050" y="2013857"/>
            <a:ext cx="5372100" cy="332558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F9792-E120-4C63-AC02-987E13A1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71662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B10E8-E2BB-429E-A1CA-25B2A497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Residents choose what to 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B6FDC-4F92-4804-ABF5-FB6CB0D0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7823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Tracking-only entry works without mailbox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A resident can paste one delivery notice, or separately connect their own Gmail account with read-only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Expected shipment records remain separate from physical custody. Accounts cannot read one another’s notices.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80B4F-BD29-44B8-B4C2-6B9C6EEC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95190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C6AF0-D288-4093-8D7B-D5FCA75F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Evaluation on 40 frozen examples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4191000"/>
                <a:gridCol w="251460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Cases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Vision fields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119 / 120 correct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20 labels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Complete label match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19 / 20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20 labels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Review branch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20 / 20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20 labels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Policy citation checks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10 / 10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10 questions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Intent classification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10 / 10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10 requests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2E849-C43C-40D2-8F71-40807B4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0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One vision result added a digit to a long tracking number. All fixtures are synthetic; these results do not measure accuracy in a real mailroom.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131CE-350A-454F-9E76-D9FFB38D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91830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2EB67-4FEB-44F4-9D48-9C179C00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Model and retrieval experiments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10896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514600"/>
                <a:gridCol w="32385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Median latency</a:t>
                      </a:r>
                    </a:p>
                  </a:txBody>
                  <a:tcPr marL="91440" marR="91440" marT="45720" marB="45720">
                    <a:solidFill>
                      <a:srgbClr val="21483C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GPT-4.1 mini · intent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12 / 12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760 ms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GPT-6 Luna · intent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11 / 12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909 ms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Page chunks · RAG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10 / 10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2,566 ms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Fixed chunks · RAG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10 / 10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483C"/>
                          </a:solidFill>
                          <a:latin typeface="Arial"/>
                          <a:ea typeface="Arial"/>
                          <a:cs typeface="Arial"/>
                        </a:rPr>
                        <a:t>2,375 ms</a:t>
                      </a:r>
                    </a:p>
                  </a:txBody>
                  <a:tcPr marL="91440" marR="91440" marT="45720" marB="45720"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FA39E-1AEC-4490-A2BA-482B00C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0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Selected GPT-4.1 mini: temperature 0, top_p 1, output limit 512. Page chunks preserve context with 8 chunks versus 24. RAG timing includes the evaluation judge.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41D38-6CA1-4F52-B72E-67ACEBD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500032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45488-166B-4752-83DE-A49FB19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Observable calls and verified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3BC38-0000-47F7-8BAE-8B17B97D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7823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Langfuse records graph steps, MCP calls, Skill loading, model settings, token usage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Explicit redaction keeps raw messages, images and package details out of external traces.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51 automated tests and the production browser flow passed, including real AI vision and PDF retrieval.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CB0C-60D4-47CA-BB85-A3227F8F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394168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ADA4C-41B1-404A-A3AC-2880378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83C"/>
                </a:solidFill>
                <a:latin typeface="Arial"/>
                <a:ea typeface="Arial"/>
                <a:cs typeface="Arial"/>
              </a:rPr>
              <a:t>Demonstration 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D60A5-CE72-4487-B838-E566FF14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7823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The working core covers intake review, personal package queries, policy answers and confirmed delivery requests.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Next: real-device label tests, Gmail authorization and stronger operational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148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483C"/>
                </a:solidFill>
                <a:latin typeface="Arial"/>
                <a:ea typeface="Arial"/>
                <a:cs typeface="Arial"/>
              </a:rPr>
              <a:t>Three daily rounds, outbound reminders, body-camera footage and courier GPS remain outside this prototype.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F3C81-CD8A-47DE-AC93-B6A28E7A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5F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33935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2026-09-25T02:58:39.9780000Z</dcterms:created>
  <dcterms:modified xsi:type="dcterms:W3CDTF">2026-09-25T02:58:39.9780000Z</dcterms:modified>
</coreProperties>
</file>